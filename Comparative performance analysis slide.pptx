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embeddedFontLst>
    <p:embeddedFont>
      <p:font typeface="Nunito"/>
      <p:regular r:id="rId37"/>
      <p:bold r:id="rId38"/>
      <p:italic r:id="rId39"/>
      <p:boldItalic r:id="rId40"/>
    </p:embeddedFont>
    <p:embeddedFont>
      <p:font typeface="Maven Pro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gGsZcGjBFnRO81DHMIq1td3B+O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9428E3-477D-41F6-B071-DB4A9C0FF3B5}">
  <a:tblStyle styleId="{DB9428E3-477D-41F6-B071-DB4A9C0FF3B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-boldItalic.fntdata"/><Relationship Id="rId20" Type="http://schemas.openxmlformats.org/officeDocument/2006/relationships/slide" Target="slides/slide14.xml"/><Relationship Id="rId42" Type="http://schemas.openxmlformats.org/officeDocument/2006/relationships/font" Target="fonts/MavenPro-bold.fntdata"/><Relationship Id="rId41" Type="http://schemas.openxmlformats.org/officeDocument/2006/relationships/font" Target="fonts/MavenPro-regular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customschemas.google.com/relationships/presentationmetadata" Target="meta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Nunito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Nunito-italic.fntdata"/><Relationship Id="rId16" Type="http://schemas.openxmlformats.org/officeDocument/2006/relationships/slide" Target="slides/slide10.xml"/><Relationship Id="rId38" Type="http://schemas.openxmlformats.org/officeDocument/2006/relationships/font" Target="fonts/Nunito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32"/>
            <p:cNvGrpSpPr/>
            <p:nvPr/>
          </p:nvGrpSpPr>
          <p:grpSpPr>
            <a:xfrm>
              <a:off x="7343003" y="4453711"/>
              <a:ext cx="316800" cy="688512"/>
              <a:chOff x="7343003" y="4453711"/>
              <a:chExt cx="316800" cy="688512"/>
            </a:xfrm>
          </p:grpSpPr>
          <p:sp>
            <p:nvSpPr>
              <p:cNvPr id="12" name="Google Shape;12;p3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3;p3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" name="Google Shape;14;p3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3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3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3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" name="Google Shape;18;p3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3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3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3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3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" name="Google Shape;23;p3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3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3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3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3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3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" name="Google Shape;29;p3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3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" name="Google Shape;32;p3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3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3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3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" name="Google Shape;36;p3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" name="Google Shape;37;p3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3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3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" name="Google Shape;40;p3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3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3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3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3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3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3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3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3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51" name="Google Shape;51;p33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33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" name="Google Shape;53;p3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3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3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34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58" name="Google Shape;58;p34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59" name="Google Shape;59;p34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34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34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34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3" name="Google Shape;63;p34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64" name="Google Shape;64;p34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34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34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34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34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" name="Google Shape;69;p34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70" name="Google Shape;70;p34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34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34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34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" name="Google Shape;74;p34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75" name="Google Shape;75;p34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34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34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" name="Google Shape;78;p34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79" name="Google Shape;79;p34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4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4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34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34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" name="Google Shape;84;p34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85" name="Google Shape;85;p34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34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34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34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9" name="Google Shape;89;p34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90" name="Google Shape;90;p34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34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34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" name="Google Shape;93;p34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94" name="Google Shape;94;p34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34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34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34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34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" name="Google Shape;99;p34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00" name="Google Shape;100;p34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34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34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34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4" name="Google Shape;104;p34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05" name="Google Shape;105;p34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34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34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34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9" name="Google Shape;109;p34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10" name="Google Shape;110;p34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34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34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3" name="Google Shape;113;p34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14" name="Google Shape;114;p34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34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34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34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" name="Google Shape;118;p34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119" name="Google Shape;119;p34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34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34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34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p34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124" name="Google Shape;124;p34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34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34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34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34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" name="Google Shape;129;p34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130" name="Google Shape;130;p34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34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34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34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4" name="Google Shape;134;p34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135" name="Google Shape;135;p34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34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34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" name="Google Shape;138;p34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139" name="Google Shape;139;p34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34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34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34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3" name="Google Shape;143;p34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144" name="Google Shape;144;p34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34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34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34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34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9" name="Google Shape;149;p34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150" name="Google Shape;150;p34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34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34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34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" name="Google Shape;154;p34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155" name="Google Shape;155;p34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34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34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" name="Google Shape;158;p34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159" name="Google Shape;159;p34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34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34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34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34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4" name="Google Shape;164;p34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165" name="Google Shape;165;p34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34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34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34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9" name="Google Shape;169;p34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170" name="Google Shape;170;p34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34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34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34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4" name="Google Shape;174;p34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175" name="Google Shape;175;p34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34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34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8" name="Google Shape;178;p34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179" name="Google Shape;179;p34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34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34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34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3" name="Google Shape;183;p34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5" name="Google Shape;185;p3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35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188" name="Google Shape;188;p35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189" name="Google Shape;189;p35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35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" name="Google Shape;191;p35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192" name="Google Shape;192;p35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35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35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5" name="Google Shape;195;p35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196" name="Google Shape;196;p35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35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35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35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00" name="Google Shape;200;p35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201" name="Google Shape;201;p35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202" name="Google Shape;202;p35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35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4" name="Google Shape;204;p35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205" name="Google Shape;205;p35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35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35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" name="Google Shape;208;p35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209" name="Google Shape;209;p35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35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35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35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3" name="Google Shape;213;p35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214" name="Google Shape;214;p35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35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35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35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35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9" name="Google Shape;219;p35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0" name="Google Shape;220;p3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3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223" name="Google Shape;223;p3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3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5" name="Google Shape;225;p3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6" name="Google Shape;226;p36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7" name="Google Shape;227;p36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8" name="Google Shape;228;p3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3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231" name="Google Shape;231;p3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3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3" name="Google Shape;233;p3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4" name="Google Shape;234;p3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38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237" name="Google Shape;237;p38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38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9" name="Google Shape;239;p38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0" name="Google Shape;240;p38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1" name="Google Shape;241;p3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39"/>
          <p:cNvGrpSpPr/>
          <p:nvPr/>
        </p:nvGrpSpPr>
        <p:grpSpPr>
          <a:xfrm>
            <a:off x="6866714" y="1255"/>
            <a:ext cx="2267380" cy="2601741"/>
            <a:chOff x="6790514" y="1255"/>
            <a:chExt cx="2267380" cy="2601741"/>
          </a:xfrm>
        </p:grpSpPr>
        <p:grpSp>
          <p:nvGrpSpPr>
            <p:cNvPr id="244" name="Google Shape;244;p39"/>
            <p:cNvGrpSpPr/>
            <p:nvPr/>
          </p:nvGrpSpPr>
          <p:grpSpPr>
            <a:xfrm>
              <a:off x="7067536" y="1255"/>
              <a:ext cx="1990358" cy="1990303"/>
              <a:chOff x="7067536" y="1255"/>
              <a:chExt cx="1990358" cy="1990303"/>
            </a:xfrm>
          </p:grpSpPr>
          <p:sp>
            <p:nvSpPr>
              <p:cNvPr id="245" name="Google Shape;245;p39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39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39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8" name="Google Shape;248;p39"/>
            <p:cNvGrpSpPr/>
            <p:nvPr/>
          </p:nvGrpSpPr>
          <p:grpSpPr>
            <a:xfrm>
              <a:off x="8207126" y="1807997"/>
              <a:ext cx="795000" cy="795000"/>
              <a:chOff x="8207126" y="1807997"/>
              <a:chExt cx="795000" cy="795000"/>
            </a:xfrm>
          </p:grpSpPr>
          <p:sp>
            <p:nvSpPr>
              <p:cNvPr id="249" name="Google Shape;249;p39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39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39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2" name="Google Shape;252;p39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253" name="Google Shape;253;p39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39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5" name="Google Shape;255;p39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3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40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259" name="Google Shape;259;p4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4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1" name="Google Shape;261;p40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2" name="Google Shape;262;p40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63" name="Google Shape;263;p40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4" name="Google Shape;264;p4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41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267" name="Google Shape;267;p41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41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9" name="Google Shape;269;p41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270" name="Google Shape;270;p4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1.jpg"/><Relationship Id="rId5" Type="http://schemas.openxmlformats.org/officeDocument/2006/relationships/image" Target="../media/image12.jpg"/><Relationship Id="rId6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aip.scitation.org/journal/adv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ieeexplore.ieee.org/xpl/conhome/6229821/proceeding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"/>
          <p:cNvSpPr txBox="1"/>
          <p:nvPr>
            <p:ph type="ctrTitle"/>
          </p:nvPr>
        </p:nvSpPr>
        <p:spPr>
          <a:xfrm>
            <a:off x="202500" y="1294575"/>
            <a:ext cx="86367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8148"/>
              <a:buNone/>
            </a:pPr>
            <a:r>
              <a:rPr lang="en-GB" sz="2700"/>
              <a:t>Bangladesh Army University Of Science And Technology</a:t>
            </a:r>
            <a:endParaRPr sz="2700"/>
          </a:p>
        </p:txBody>
      </p:sp>
      <p:pic>
        <p:nvPicPr>
          <p:cNvPr id="278" name="Google Shape;27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7775" y="239192"/>
            <a:ext cx="1146850" cy="1055384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"/>
          <p:cNvSpPr txBox="1"/>
          <p:nvPr/>
        </p:nvSpPr>
        <p:spPr>
          <a:xfrm>
            <a:off x="1345300" y="1911525"/>
            <a:ext cx="663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</a:t>
            </a:r>
            <a:endParaRPr b="1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"/>
          <p:cNvSpPr txBox="1"/>
          <p:nvPr/>
        </p:nvSpPr>
        <p:spPr>
          <a:xfrm>
            <a:off x="1249000" y="2373225"/>
            <a:ext cx="6824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Comparative performance analysis of five ML techniques on classifying defects in steel sheets from images.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"/>
          <p:cNvSpPr txBox="1"/>
          <p:nvPr/>
        </p:nvSpPr>
        <p:spPr>
          <a:xfrm>
            <a:off x="1401650" y="3486975"/>
            <a:ext cx="3000000" cy="1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Presented By: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Md Abir Hasan (170201063)</a:t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Mihir Roy (170201028)</a:t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"/>
          <p:cNvSpPr txBox="1"/>
          <p:nvPr/>
        </p:nvSpPr>
        <p:spPr>
          <a:xfrm>
            <a:off x="5234625" y="3153525"/>
            <a:ext cx="451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Supervisor:</a:t>
            </a:r>
            <a:endParaRPr b="1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Taher Muhammad Mahdee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Designation:</a:t>
            </a:r>
            <a:endParaRPr b="1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sociate</a:t>
            </a:r>
            <a:r>
              <a:rPr b="0" i="0" lang="en-GB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 Professor,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                                            Engineering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"/>
          <p:cNvSpPr txBox="1"/>
          <p:nvPr>
            <p:ph type="title"/>
          </p:nvPr>
        </p:nvSpPr>
        <p:spPr>
          <a:xfrm>
            <a:off x="1303800" y="325200"/>
            <a:ext cx="7030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Presentation Outlines</a:t>
            </a:r>
            <a:endParaRPr sz="2000"/>
          </a:p>
        </p:txBody>
      </p:sp>
      <p:sp>
        <p:nvSpPr>
          <p:cNvPr id="289" name="Google Shape;289;p2"/>
          <p:cNvSpPr txBox="1"/>
          <p:nvPr>
            <p:ph idx="1" type="body"/>
          </p:nvPr>
        </p:nvSpPr>
        <p:spPr>
          <a:xfrm>
            <a:off x="1520150" y="1356750"/>
            <a:ext cx="3151200" cy="3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of Problem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Related Work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Intended Outcome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and feature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"/>
          <p:cNvSpPr txBox="1"/>
          <p:nvPr/>
        </p:nvSpPr>
        <p:spPr>
          <a:xfrm>
            <a:off x="5577675" y="1356750"/>
            <a:ext cx="30000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 startAt="8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Flow Chart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 startAt="8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Analysis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 startAt="8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 Analysis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 startAt="8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 startAt="8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 startAt="8"/>
            </a:pP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"/>
          <p:cNvSpPr txBox="1"/>
          <p:nvPr>
            <p:ph type="title"/>
          </p:nvPr>
        </p:nvSpPr>
        <p:spPr>
          <a:xfrm>
            <a:off x="1303800" y="213825"/>
            <a:ext cx="70305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-GB" sz="2400"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"/>
          <p:cNvSpPr txBox="1"/>
          <p:nvPr>
            <p:ph idx="1" type="body"/>
          </p:nvPr>
        </p:nvSpPr>
        <p:spPr>
          <a:xfrm>
            <a:off x="1364550" y="1356749"/>
            <a:ext cx="4315500" cy="3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What is a steel defect, and how does it occur?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Production process of flat steel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Heating and Rolling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Drying and Cutting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steel sheets need to undergo careful inspection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localizing and classifying surface defects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8875" y="1356750"/>
            <a:ext cx="2538574" cy="281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"/>
          <p:cNvSpPr txBox="1"/>
          <p:nvPr/>
        </p:nvSpPr>
        <p:spPr>
          <a:xfrm>
            <a:off x="6725325" y="4174000"/>
            <a:ext cx="153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Fig 1:  Defects</a:t>
            </a:r>
            <a:endParaRPr b="1" i="0" sz="10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0" name="Google Shape;300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"/>
          <p:cNvSpPr txBox="1"/>
          <p:nvPr>
            <p:ph type="title"/>
          </p:nvPr>
        </p:nvSpPr>
        <p:spPr>
          <a:xfrm>
            <a:off x="1181325" y="302600"/>
            <a:ext cx="70305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  <a:endParaRPr sz="3400"/>
          </a:p>
        </p:txBody>
      </p:sp>
      <p:sp>
        <p:nvSpPr>
          <p:cNvPr id="306" name="Google Shape;306;p4"/>
          <p:cNvSpPr txBox="1"/>
          <p:nvPr>
            <p:ph idx="1" type="body"/>
          </p:nvPr>
        </p:nvSpPr>
        <p:spPr>
          <a:xfrm>
            <a:off x="1303800" y="1597875"/>
            <a:ext cx="7030500" cy="29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project is targeted to find efficiency and how much it can detect defects.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 goal is to find good accuracy of detection.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an easy detection process for production / industry.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produce a pure, defectless steel sheet.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"/>
          <p:cNvSpPr txBox="1"/>
          <p:nvPr>
            <p:ph type="title"/>
          </p:nvPr>
        </p:nvSpPr>
        <p:spPr>
          <a:xfrm>
            <a:off x="1140525" y="306125"/>
            <a:ext cx="70305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of Problem</a:t>
            </a:r>
            <a:endParaRPr sz="3400"/>
          </a:p>
        </p:txBody>
      </p:sp>
      <p:sp>
        <p:nvSpPr>
          <p:cNvPr id="313" name="Google Shape;313;p5"/>
          <p:cNvSpPr txBox="1"/>
          <p:nvPr>
            <p:ph idx="1" type="body"/>
          </p:nvPr>
        </p:nvSpPr>
        <p:spPr>
          <a:xfrm>
            <a:off x="1303800" y="1622650"/>
            <a:ext cx="7030500" cy="27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Problem in production process.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Surface defect because of heating, rolling, 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drying,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 and cutting a steel sheet.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950" y="2856625"/>
            <a:ext cx="1845324" cy="111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5700" y="2856625"/>
            <a:ext cx="1845324" cy="111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80663" y="2856625"/>
            <a:ext cx="1845324" cy="111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5625" y="2856625"/>
            <a:ext cx="1845324" cy="1117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5"/>
          <p:cNvSpPr txBox="1"/>
          <p:nvPr/>
        </p:nvSpPr>
        <p:spPr>
          <a:xfrm>
            <a:off x="688500" y="4151250"/>
            <a:ext cx="104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Defect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5"/>
          <p:cNvSpPr txBox="1"/>
          <p:nvPr/>
        </p:nvSpPr>
        <p:spPr>
          <a:xfrm>
            <a:off x="7571538" y="4151250"/>
            <a:ext cx="109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Defect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5"/>
          <p:cNvSpPr txBox="1"/>
          <p:nvPr/>
        </p:nvSpPr>
        <p:spPr>
          <a:xfrm>
            <a:off x="3070463" y="4151250"/>
            <a:ext cx="83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Defect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5"/>
          <p:cNvSpPr txBox="1"/>
          <p:nvPr/>
        </p:nvSpPr>
        <p:spPr>
          <a:xfrm>
            <a:off x="5256575" y="4151250"/>
            <a:ext cx="109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Defect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6"/>
          <p:cNvSpPr txBox="1"/>
          <p:nvPr>
            <p:ph type="title"/>
          </p:nvPr>
        </p:nvSpPr>
        <p:spPr>
          <a:xfrm>
            <a:off x="1181325" y="333225"/>
            <a:ext cx="70305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29630"/>
              <a:buNone/>
            </a:pPr>
            <a:r>
              <a:rPr b="0"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Related Work</a:t>
            </a:r>
            <a:endParaRPr sz="3400"/>
          </a:p>
        </p:txBody>
      </p:sp>
      <p:sp>
        <p:nvSpPr>
          <p:cNvPr id="328" name="Google Shape;328;p6"/>
          <p:cNvSpPr txBox="1"/>
          <p:nvPr>
            <p:ph idx="1" type="body"/>
          </p:nvPr>
        </p:nvSpPr>
        <p:spPr>
          <a:xfrm>
            <a:off x="1303800" y="1408350"/>
            <a:ext cx="7030500" cy="3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Semantic Segmentation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CNN-Based Method (FCN)</a:t>
            </a:r>
            <a:endParaRPr sz="1600"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Instance Segmentation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Proposal-Based Method (Mask R-CNN)</a:t>
            </a:r>
            <a:endParaRPr sz="1600"/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Segmentation-Based Method</a:t>
            </a:r>
            <a:endParaRPr sz="16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SzPts val="1300"/>
              <a:buNone/>
            </a:pPr>
            <a:r>
              <a:t/>
            </a:r>
            <a:endParaRPr sz="1600">
              <a:solidFill>
                <a:srgbClr val="262626"/>
              </a:solidFill>
            </a:endParaRPr>
          </a:p>
        </p:txBody>
      </p:sp>
      <p:pic>
        <p:nvPicPr>
          <p:cNvPr id="329" name="Google Shape;3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9150" y="3231125"/>
            <a:ext cx="6475726" cy="1090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7"/>
          <p:cNvSpPr txBox="1"/>
          <p:nvPr>
            <p:ph type="title"/>
          </p:nvPr>
        </p:nvSpPr>
        <p:spPr>
          <a:xfrm>
            <a:off x="1303800" y="347200"/>
            <a:ext cx="70305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Intended Outcome</a:t>
            </a:r>
            <a:endParaRPr sz="3400"/>
          </a:p>
        </p:txBody>
      </p:sp>
      <p:sp>
        <p:nvSpPr>
          <p:cNvPr id="336" name="Google Shape;336;p7"/>
          <p:cNvSpPr txBox="1"/>
          <p:nvPr>
            <p:ph idx="1" type="body"/>
          </p:nvPr>
        </p:nvSpPr>
        <p:spPr>
          <a:xfrm>
            <a:off x="1303800" y="1565000"/>
            <a:ext cx="70305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0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To find efficient model for detect defect from image.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To achieve</a:t>
            </a: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good accuracy of detection.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learn how algorithms are working.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 sz="1000"/>
          </a:p>
        </p:txBody>
      </p:sp>
      <p:sp>
        <p:nvSpPr>
          <p:cNvPr id="337" name="Google Shape;337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8"/>
          <p:cNvSpPr txBox="1"/>
          <p:nvPr>
            <p:ph type="title"/>
          </p:nvPr>
        </p:nvSpPr>
        <p:spPr>
          <a:xfrm>
            <a:off x="1160925" y="435425"/>
            <a:ext cx="70305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29630"/>
              <a:buNone/>
            </a:pPr>
            <a:r>
              <a:rPr b="0"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sz="3400"/>
          </a:p>
        </p:txBody>
      </p:sp>
      <p:sp>
        <p:nvSpPr>
          <p:cNvPr id="343" name="Google Shape;343;p8"/>
          <p:cNvSpPr txBox="1"/>
          <p:nvPr>
            <p:ph idx="1" type="body"/>
          </p:nvPr>
        </p:nvSpPr>
        <p:spPr>
          <a:xfrm>
            <a:off x="1293675" y="1446650"/>
            <a:ext cx="70305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We used these Deep and Machine learning methods for this thesis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Neural Network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CNN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Xception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Clustering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KNN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Classification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SVM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Random Forest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9"/>
          <p:cNvSpPr txBox="1"/>
          <p:nvPr>
            <p:ph type="title"/>
          </p:nvPr>
        </p:nvSpPr>
        <p:spPr>
          <a:xfrm>
            <a:off x="1303800" y="337325"/>
            <a:ext cx="70305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14295"/>
              <a:buNone/>
            </a:pPr>
            <a:r>
              <a:rPr b="0" lang="en-GB" sz="27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and feature</a:t>
            </a:r>
            <a:endParaRPr b="0" sz="27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350" name="Google Shape;350;p9"/>
          <p:cNvSpPr txBox="1"/>
          <p:nvPr>
            <p:ph idx="1" type="body"/>
          </p:nvPr>
        </p:nvSpPr>
        <p:spPr>
          <a:xfrm>
            <a:off x="1303800" y="1274300"/>
            <a:ext cx="7030500" cy="3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Arial"/>
              <a:buChar char="●"/>
            </a:pPr>
            <a:r>
              <a:rPr lang="en-GB" sz="17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Dataset Collected from </a:t>
            </a:r>
            <a:r>
              <a:rPr lang="en-GB" sz="1700">
                <a:solidFill>
                  <a:srgbClr val="002F6C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PAO Severstal</a:t>
            </a: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GB">
                <a:solidFill>
                  <a:srgbClr val="002F6C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vertically integrated steel and steel-related mining company, Russia)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Arial"/>
              <a:buChar char="●"/>
            </a:pPr>
            <a:r>
              <a:rPr lang="en-GB" sz="17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Images provided are of size 1600 × 256 × 1 and total 12568 counts.</a:t>
            </a:r>
            <a:endParaRPr sz="17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Arial"/>
              <a:buChar char="●"/>
            </a:pPr>
            <a:r>
              <a:rPr lang="en-GB" sz="17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5902 images have defects, and 6666 images do not have defects.</a:t>
            </a:r>
            <a:endParaRPr sz="17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Arial"/>
              <a:buChar char="●"/>
            </a:pPr>
            <a:r>
              <a:rPr lang="en-GB" sz="17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We flatten all the images for the use of this project. So there are a large number of features.</a:t>
            </a:r>
            <a:endParaRPr sz="17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Arial"/>
              <a:buChar char="●"/>
            </a:pPr>
            <a:r>
              <a:rPr lang="en-GB" sz="17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We used 3100 data samples for this process.</a:t>
            </a:r>
            <a:endParaRPr sz="17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0"/>
          <p:cNvSpPr txBox="1"/>
          <p:nvPr>
            <p:ph type="title"/>
          </p:nvPr>
        </p:nvSpPr>
        <p:spPr>
          <a:xfrm>
            <a:off x="1242575" y="280525"/>
            <a:ext cx="70305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14295"/>
              <a:buNone/>
            </a:pPr>
            <a:r>
              <a:rPr b="0" lang="en-GB" sz="27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and feature</a:t>
            </a:r>
            <a:endParaRPr b="0" sz="27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357" name="Google Shape;357;p10"/>
          <p:cNvSpPr txBox="1"/>
          <p:nvPr>
            <p:ph idx="1" type="body"/>
          </p:nvPr>
        </p:nvSpPr>
        <p:spPr>
          <a:xfrm>
            <a:off x="1314025" y="1285875"/>
            <a:ext cx="7030500" cy="3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Datas are classified in 4 classes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for 4 types of steel defects.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Split Dataset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Training Data 80%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Test Data 20%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" name="Google Shape;3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6800" y="1423100"/>
            <a:ext cx="3323475" cy="280192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0"/>
          <p:cNvSpPr txBox="1"/>
          <p:nvPr/>
        </p:nvSpPr>
        <p:spPr>
          <a:xfrm>
            <a:off x="6218388" y="4225025"/>
            <a:ext cx="150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Fig 2: Data Classes</a:t>
            </a:r>
            <a:endParaRPr b="1" i="0" sz="10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0" name="Google Shape;36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1"/>
          <p:cNvSpPr txBox="1"/>
          <p:nvPr>
            <p:ph type="title"/>
          </p:nvPr>
        </p:nvSpPr>
        <p:spPr>
          <a:xfrm>
            <a:off x="1107650" y="259300"/>
            <a:ext cx="7030500" cy="5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14295"/>
              <a:buNone/>
            </a:pPr>
            <a:r>
              <a:rPr b="0" lang="en-GB" sz="27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Flow Chart</a:t>
            </a:r>
            <a:endParaRPr/>
          </a:p>
        </p:txBody>
      </p:sp>
      <p:sp>
        <p:nvSpPr>
          <p:cNvPr id="366" name="Google Shape;366;p11"/>
          <p:cNvSpPr txBox="1"/>
          <p:nvPr>
            <p:ph idx="1" type="body"/>
          </p:nvPr>
        </p:nvSpPr>
        <p:spPr>
          <a:xfrm>
            <a:off x="2859757" y="4566575"/>
            <a:ext cx="41493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005"/>
              <a:t>Fig 3: A basic methodology diagram for steel defect detection</a:t>
            </a:r>
            <a:endParaRPr b="1" sz="1005"/>
          </a:p>
        </p:txBody>
      </p:sp>
      <p:sp>
        <p:nvSpPr>
          <p:cNvPr id="367" name="Google Shape;367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68" name="Google Shape;36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8100" y="871725"/>
            <a:ext cx="1870874" cy="365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2"/>
          <p:cNvSpPr txBox="1"/>
          <p:nvPr>
            <p:ph type="title"/>
          </p:nvPr>
        </p:nvSpPr>
        <p:spPr>
          <a:xfrm>
            <a:off x="1056750" y="221500"/>
            <a:ext cx="70305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14295"/>
              <a:buNone/>
            </a:pPr>
            <a:r>
              <a:rPr b="0" lang="en-GB" sz="27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Flow Chart</a:t>
            </a:r>
            <a:endParaRPr/>
          </a:p>
        </p:txBody>
      </p:sp>
      <p:sp>
        <p:nvSpPr>
          <p:cNvPr id="374" name="Google Shape;374;p12"/>
          <p:cNvSpPr txBox="1"/>
          <p:nvPr/>
        </p:nvSpPr>
        <p:spPr>
          <a:xfrm>
            <a:off x="3319050" y="47455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Fig 4: Flow Chart For Neural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2"/>
          <p:cNvSpPr txBox="1"/>
          <p:nvPr/>
        </p:nvSpPr>
        <p:spPr>
          <a:xfrm>
            <a:off x="7654500" y="678375"/>
            <a:ext cx="58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6" name="Google Shape;376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77" name="Google Shape;37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9946" y="862950"/>
            <a:ext cx="5918205" cy="3787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3"/>
          <p:cNvSpPr txBox="1"/>
          <p:nvPr>
            <p:ph type="title"/>
          </p:nvPr>
        </p:nvSpPr>
        <p:spPr>
          <a:xfrm>
            <a:off x="898800" y="223950"/>
            <a:ext cx="70305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14295"/>
              <a:buNone/>
            </a:pPr>
            <a:r>
              <a:rPr b="0" lang="en-GB" sz="27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Flow Chart</a:t>
            </a:r>
            <a:endParaRPr/>
          </a:p>
          <a:p>
            <a:pPr indent="0" lvl="0" marL="4572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14295"/>
              <a:buNone/>
            </a:pPr>
            <a:r>
              <a:t/>
            </a:r>
            <a:endParaRPr b="0" sz="27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3"/>
          <p:cNvSpPr txBox="1"/>
          <p:nvPr/>
        </p:nvSpPr>
        <p:spPr>
          <a:xfrm>
            <a:off x="2905875" y="4657500"/>
            <a:ext cx="343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Fig 5: Flow Chart For Classification and Clustering</a:t>
            </a:r>
            <a:endParaRPr b="1" i="0" sz="10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4" name="Google Shape;384;p1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85" name="Google Shape;385;p13"/>
          <p:cNvPicPr preferRelativeResize="0"/>
          <p:nvPr/>
        </p:nvPicPr>
        <p:blipFill rotWithShape="1">
          <a:blip r:embed="rId3">
            <a:alphaModFix/>
          </a:blip>
          <a:srcRect b="0" l="-1430" r="1430" t="0"/>
          <a:stretch/>
        </p:blipFill>
        <p:spPr>
          <a:xfrm>
            <a:off x="1582850" y="840450"/>
            <a:ext cx="6078349" cy="374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4"/>
          <p:cNvSpPr txBox="1"/>
          <p:nvPr>
            <p:ph type="title"/>
          </p:nvPr>
        </p:nvSpPr>
        <p:spPr>
          <a:xfrm>
            <a:off x="1162050" y="284700"/>
            <a:ext cx="70305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14295"/>
              <a:buNone/>
            </a:pPr>
            <a:r>
              <a:rPr b="0" lang="en-GB" sz="27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Analysis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391" name="Google Shape;3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650" y="1334075"/>
            <a:ext cx="4212025" cy="344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0473" y="1334063"/>
            <a:ext cx="3743129" cy="100867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5"/>
          <p:cNvSpPr txBox="1"/>
          <p:nvPr>
            <p:ph type="title"/>
          </p:nvPr>
        </p:nvSpPr>
        <p:spPr>
          <a:xfrm>
            <a:off x="1141800" y="244200"/>
            <a:ext cx="7030500" cy="5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14295"/>
              <a:buNone/>
            </a:pPr>
            <a:r>
              <a:rPr b="0" lang="en-GB" sz="27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Analysis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399" name="Google Shape;3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50" y="1458000"/>
            <a:ext cx="3984700" cy="258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1900" y="1458000"/>
            <a:ext cx="4150601" cy="1169346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6"/>
          <p:cNvSpPr txBox="1"/>
          <p:nvPr>
            <p:ph type="title"/>
          </p:nvPr>
        </p:nvSpPr>
        <p:spPr>
          <a:xfrm>
            <a:off x="1151925" y="223950"/>
            <a:ext cx="70305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14295"/>
              <a:buNone/>
            </a:pPr>
            <a:r>
              <a:rPr b="0" lang="en-GB" sz="27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Analysis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407" name="Google Shape;4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225" y="1451900"/>
            <a:ext cx="8294474" cy="306605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7"/>
          <p:cNvSpPr txBox="1"/>
          <p:nvPr>
            <p:ph type="title"/>
          </p:nvPr>
        </p:nvSpPr>
        <p:spPr>
          <a:xfrm>
            <a:off x="1160950" y="335175"/>
            <a:ext cx="7030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 Analysis</a:t>
            </a:r>
            <a:endParaRPr sz="3700"/>
          </a:p>
        </p:txBody>
      </p:sp>
      <p:sp>
        <p:nvSpPr>
          <p:cNvPr id="414" name="Google Shape;414;p17"/>
          <p:cNvSpPr txBox="1"/>
          <p:nvPr>
            <p:ph idx="1" type="body"/>
          </p:nvPr>
        </p:nvSpPr>
        <p:spPr>
          <a:xfrm>
            <a:off x="1303800" y="1261700"/>
            <a:ext cx="70305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     Accuracy Table: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5" name="Google Shape;415;p17"/>
          <p:cNvGraphicFramePr/>
          <p:nvPr/>
        </p:nvGraphicFramePr>
        <p:xfrm>
          <a:off x="1663900" y="187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{DB9428E3-477D-41F6-B071-DB4A9C0FF3B5}</a:tableStyleId>
              </a:tblPr>
              <a:tblGrid>
                <a:gridCol w="1063500"/>
                <a:gridCol w="2826475"/>
                <a:gridCol w="2572025"/>
              </a:tblGrid>
              <a:tr h="40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No.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Model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Accuracy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CNN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highlight>
                            <a:srgbClr val="93C47D"/>
                          </a:highlight>
                        </a:rPr>
                        <a:t>75.81%</a:t>
                      </a:r>
                      <a:endParaRPr sz="1400" u="none" cap="none" strike="noStrike">
                        <a:highlight>
                          <a:srgbClr val="93C47D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Xception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highlight>
                            <a:srgbClr val="6AA84F"/>
                          </a:highlight>
                        </a:rPr>
                        <a:t>89.80%</a:t>
                      </a:r>
                      <a:endParaRPr sz="1400" u="none" cap="none" strike="noStrike">
                        <a:highlight>
                          <a:srgbClr val="6AA84F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SVM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highlight>
                            <a:srgbClr val="93C47D"/>
                          </a:highlight>
                        </a:rPr>
                        <a:t>75.80%</a:t>
                      </a:r>
                      <a:endParaRPr sz="1400" u="none" cap="none" strike="noStrike">
                        <a:highlight>
                          <a:srgbClr val="6AA84F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Random Forest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highlight>
                            <a:srgbClr val="B6D7A8"/>
                          </a:highlight>
                        </a:rPr>
                        <a:t>73.38%</a:t>
                      </a:r>
                      <a:endParaRPr sz="1400" u="none" cap="none" strike="noStrike">
                        <a:highlight>
                          <a:srgbClr val="B6D7A8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KNN (k=5)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highlight>
                            <a:srgbClr val="93C47D"/>
                          </a:highlight>
                        </a:rPr>
                        <a:t>76.61%</a:t>
                      </a:r>
                      <a:endParaRPr sz="1400" u="none" cap="none" strike="noStrike">
                        <a:highlight>
                          <a:srgbClr val="6AA84F"/>
                        </a:highlight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16" name="Google Shape;416;p1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8"/>
          <p:cNvSpPr txBox="1"/>
          <p:nvPr>
            <p:ph type="title"/>
          </p:nvPr>
        </p:nvSpPr>
        <p:spPr>
          <a:xfrm>
            <a:off x="1134275" y="298825"/>
            <a:ext cx="70305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 Analysis</a:t>
            </a:r>
            <a:endParaRPr/>
          </a:p>
        </p:txBody>
      </p:sp>
      <p:sp>
        <p:nvSpPr>
          <p:cNvPr id="422" name="Google Shape;422;p18"/>
          <p:cNvSpPr txBox="1"/>
          <p:nvPr>
            <p:ph idx="1" type="body"/>
          </p:nvPr>
        </p:nvSpPr>
        <p:spPr>
          <a:xfrm>
            <a:off x="1338525" y="1031925"/>
            <a:ext cx="7030500" cy="3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Accuracy Bar Chart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24" name="Google Shape;4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1500" y="1478025"/>
            <a:ext cx="5612074" cy="336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9"/>
          <p:cNvSpPr txBox="1"/>
          <p:nvPr>
            <p:ph type="title"/>
          </p:nvPr>
        </p:nvSpPr>
        <p:spPr>
          <a:xfrm>
            <a:off x="1187975" y="335050"/>
            <a:ext cx="7030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 Analysis</a:t>
            </a:r>
            <a:endParaRPr/>
          </a:p>
        </p:txBody>
      </p:sp>
      <p:sp>
        <p:nvSpPr>
          <p:cNvPr id="430" name="Google Shape;430;p19"/>
          <p:cNvSpPr txBox="1"/>
          <p:nvPr>
            <p:ph idx="1" type="body"/>
          </p:nvPr>
        </p:nvSpPr>
        <p:spPr>
          <a:xfrm>
            <a:off x="1303800" y="1363125"/>
            <a:ext cx="7030500" cy="3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CNN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1" name="Google Shape;4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988" y="1822238"/>
            <a:ext cx="3506475" cy="225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4900" y="1822238"/>
            <a:ext cx="3628026" cy="225037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9"/>
          <p:cNvSpPr txBox="1"/>
          <p:nvPr/>
        </p:nvSpPr>
        <p:spPr>
          <a:xfrm>
            <a:off x="2196163" y="4092350"/>
            <a:ext cx="149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Fig 6: Loss Curve</a:t>
            </a:r>
            <a:endParaRPr b="1" i="0" sz="10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4" name="Google Shape;434;p19"/>
          <p:cNvSpPr txBox="1"/>
          <p:nvPr/>
        </p:nvSpPr>
        <p:spPr>
          <a:xfrm>
            <a:off x="6033863" y="4092350"/>
            <a:ext cx="149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Fig 7: Accuracy Curve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0"/>
          <p:cNvSpPr txBox="1"/>
          <p:nvPr>
            <p:ph type="title"/>
          </p:nvPr>
        </p:nvSpPr>
        <p:spPr>
          <a:xfrm>
            <a:off x="1120100" y="371375"/>
            <a:ext cx="70305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17400"/>
              <a:buNone/>
            </a:pPr>
            <a:r>
              <a:rPr b="0" lang="en-GB" sz="2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 Analysis</a:t>
            </a:r>
            <a:endParaRPr/>
          </a:p>
        </p:txBody>
      </p:sp>
      <p:sp>
        <p:nvSpPr>
          <p:cNvPr id="441" name="Google Shape;441;p20"/>
          <p:cNvSpPr txBox="1"/>
          <p:nvPr>
            <p:ph idx="1" type="body"/>
          </p:nvPr>
        </p:nvSpPr>
        <p:spPr>
          <a:xfrm>
            <a:off x="1262975" y="1300625"/>
            <a:ext cx="7030500" cy="3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Xception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2" name="Google Shape;44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0100" y="1849400"/>
            <a:ext cx="3475076" cy="223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8350" y="1835550"/>
            <a:ext cx="3475075" cy="2264573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20"/>
          <p:cNvSpPr txBox="1"/>
          <p:nvPr/>
        </p:nvSpPr>
        <p:spPr>
          <a:xfrm>
            <a:off x="2298375" y="4203125"/>
            <a:ext cx="140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Fig 8: Loss Curve</a:t>
            </a:r>
            <a:endParaRPr b="1" i="0" sz="10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5" name="Google Shape;445;p20"/>
          <p:cNvSpPr txBox="1"/>
          <p:nvPr/>
        </p:nvSpPr>
        <p:spPr>
          <a:xfrm>
            <a:off x="6088688" y="4203125"/>
            <a:ext cx="149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Fig 9: Accuracy Curve</a:t>
            </a:r>
            <a:endParaRPr b="1" i="0" sz="10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6" name="Google Shape;446;p2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1"/>
          <p:cNvSpPr txBox="1"/>
          <p:nvPr>
            <p:ph type="title"/>
          </p:nvPr>
        </p:nvSpPr>
        <p:spPr>
          <a:xfrm>
            <a:off x="1118450" y="216275"/>
            <a:ext cx="70305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17400"/>
              <a:buNone/>
            </a:pPr>
            <a:r>
              <a:rPr b="0" lang="en-GB" sz="2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 Analysis</a:t>
            </a:r>
            <a:endParaRPr/>
          </a:p>
        </p:txBody>
      </p:sp>
      <p:sp>
        <p:nvSpPr>
          <p:cNvPr id="452" name="Google Shape;452;p21"/>
          <p:cNvSpPr txBox="1"/>
          <p:nvPr>
            <p:ph idx="1" type="body"/>
          </p:nvPr>
        </p:nvSpPr>
        <p:spPr>
          <a:xfrm>
            <a:off x="1303800" y="1053000"/>
            <a:ext cx="7030500" cy="3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SVM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3" name="Google Shape;4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6125" y="1549125"/>
            <a:ext cx="5508000" cy="316912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2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2"/>
          <p:cNvSpPr txBox="1"/>
          <p:nvPr>
            <p:ph type="title"/>
          </p:nvPr>
        </p:nvSpPr>
        <p:spPr>
          <a:xfrm>
            <a:off x="1056750" y="234075"/>
            <a:ext cx="70305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17400"/>
              <a:buNone/>
            </a:pPr>
            <a:r>
              <a:rPr b="0" lang="en-GB" sz="2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 Analysis</a:t>
            </a:r>
            <a:endParaRPr/>
          </a:p>
        </p:txBody>
      </p:sp>
      <p:sp>
        <p:nvSpPr>
          <p:cNvPr id="460" name="Google Shape;460;p22"/>
          <p:cNvSpPr txBox="1"/>
          <p:nvPr>
            <p:ph idx="1" type="body"/>
          </p:nvPr>
        </p:nvSpPr>
        <p:spPr>
          <a:xfrm>
            <a:off x="1288263" y="1032750"/>
            <a:ext cx="7030500" cy="3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Random Forest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1" name="Google Shape;46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5500" y="1524500"/>
            <a:ext cx="5376375" cy="3153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3"/>
          <p:cNvSpPr txBox="1"/>
          <p:nvPr>
            <p:ph type="title"/>
          </p:nvPr>
        </p:nvSpPr>
        <p:spPr>
          <a:xfrm>
            <a:off x="1192425" y="213825"/>
            <a:ext cx="70305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17400"/>
              <a:buNone/>
            </a:pPr>
            <a:r>
              <a:rPr b="0" lang="en-GB" sz="2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 Analysis</a:t>
            </a:r>
            <a:endParaRPr/>
          </a:p>
        </p:txBody>
      </p:sp>
      <p:sp>
        <p:nvSpPr>
          <p:cNvPr id="468" name="Google Shape;468;p23"/>
          <p:cNvSpPr txBox="1"/>
          <p:nvPr>
            <p:ph idx="1" type="body"/>
          </p:nvPr>
        </p:nvSpPr>
        <p:spPr>
          <a:xfrm>
            <a:off x="1293675" y="1002375"/>
            <a:ext cx="7030500" cy="3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n-GB" sz="1600"/>
              <a:t>KNN</a:t>
            </a:r>
            <a:endParaRPr sz="1600"/>
          </a:p>
        </p:txBody>
      </p:sp>
      <p:sp>
        <p:nvSpPr>
          <p:cNvPr id="469" name="Google Shape;469;p2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70" name="Google Shape;47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2025" y="1492350"/>
            <a:ext cx="5187076" cy="333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4"/>
          <p:cNvSpPr txBox="1"/>
          <p:nvPr>
            <p:ph type="title"/>
          </p:nvPr>
        </p:nvSpPr>
        <p:spPr>
          <a:xfrm>
            <a:off x="1140500" y="353650"/>
            <a:ext cx="7030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29630"/>
              <a:buNone/>
            </a:pPr>
            <a:r>
              <a:rPr b="0"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4"/>
          <p:cNvSpPr txBox="1"/>
          <p:nvPr>
            <p:ph idx="1" type="body"/>
          </p:nvPr>
        </p:nvSpPr>
        <p:spPr>
          <a:xfrm>
            <a:off x="1303800" y="1438950"/>
            <a:ext cx="7030500" cy="3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just">
              <a:lnSpc>
                <a:spcPct val="170454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Due to the imbalance between different kinds of labels, more data augmentation processes such as rotation and scaling on the images should be performed on the rare defect classes.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just">
              <a:lnSpc>
                <a:spcPct val="170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 accuracy without reshaping the size of the image.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just">
              <a:lnSpc>
                <a:spcPct val="170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 accuracy with different sizes of images.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just">
              <a:lnSpc>
                <a:spcPct val="170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We can use multiple models in a single device to achieve more accurate results.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477" name="Google Shape;477;p2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5"/>
          <p:cNvSpPr txBox="1"/>
          <p:nvPr>
            <p:ph type="title"/>
          </p:nvPr>
        </p:nvSpPr>
        <p:spPr>
          <a:xfrm>
            <a:off x="1130300" y="292400"/>
            <a:ext cx="70305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-GB" sz="2400"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5"/>
          <p:cNvSpPr txBox="1"/>
          <p:nvPr>
            <p:ph idx="1" type="body"/>
          </p:nvPr>
        </p:nvSpPr>
        <p:spPr>
          <a:xfrm>
            <a:off x="1303800" y="1367525"/>
            <a:ext cx="7030500" cy="3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model outputs the pixel-wise defected area with corresponding labels. Among all the models, I performed the task and compared their performance and achieved the highest accuracy of 89.80% for the Xception model.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6"/>
          <p:cNvSpPr txBox="1"/>
          <p:nvPr>
            <p:ph type="title"/>
          </p:nvPr>
        </p:nvSpPr>
        <p:spPr>
          <a:xfrm>
            <a:off x="1303800" y="333250"/>
            <a:ext cx="7030500" cy="5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-GB" sz="2400">
                <a:latin typeface="Arial"/>
                <a:ea typeface="Arial"/>
                <a:cs typeface="Arial"/>
                <a:sym typeface="Arial"/>
              </a:rPr>
              <a:t>References</a:t>
            </a:r>
            <a:endParaRPr b="0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6"/>
          <p:cNvSpPr txBox="1"/>
          <p:nvPr>
            <p:ph idx="1" type="body"/>
          </p:nvPr>
        </p:nvSpPr>
        <p:spPr>
          <a:xfrm>
            <a:off x="1303800" y="1091975"/>
            <a:ext cx="7030500" cy="3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J. Long, E. Shelhamer, and T. Darrell. Fully convolutional networks for semantic segmentation. In Proceedings of the IEEE conference on computer vision and pattern recognition, pages 3431–3440, 2015.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L.-C. Chen, G. Papandreou, I. Kokkinos, K. Murphy, and A. L. Yuille. Deeplab: Semantic image segmentation with deep convolutional nets, atrous convolution, and fully connected crfs. IEEE transactions on pattern analysis and machine intelligence, 40(4):834–848, 2017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H. Noh, S. Hong, and B. Han. Learning deconvolution network for semantic segmentation. In Proceedings of the IEEE international conference on computer vision, pages 1520– 1528, 2015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R. Girshick. Fast r-cnn. In Proceedings of the IEEE international conference on computer vision, pages 1440–1448, 2015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T.-Y. Lin, P. Dollar, R. Girshick, K. He, B. Hariharan, and ´ S. Belongie. Feature pyramid networks for object detection. In Proceedings of the IEEE conference on computer vision and pattern recognition, pages 2117–2125, 2017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7"/>
          <p:cNvSpPr txBox="1"/>
          <p:nvPr>
            <p:ph type="title"/>
          </p:nvPr>
        </p:nvSpPr>
        <p:spPr>
          <a:xfrm>
            <a:off x="1303800" y="272000"/>
            <a:ext cx="70305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400"/>
              <a:buNone/>
            </a:pPr>
            <a:r>
              <a:rPr b="0" lang="en-GB" sz="2650">
                <a:latin typeface="Arial"/>
                <a:ea typeface="Arial"/>
                <a:cs typeface="Arial"/>
                <a:sym typeface="Arial"/>
              </a:rPr>
              <a:t>References</a:t>
            </a:r>
            <a:endParaRPr b="0" sz="26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497" name="Google Shape;497;p27"/>
          <p:cNvSpPr txBox="1"/>
          <p:nvPr>
            <p:ph idx="1" type="body"/>
          </p:nvPr>
        </p:nvSpPr>
        <p:spPr>
          <a:xfrm>
            <a:off x="1303800" y="1040950"/>
            <a:ext cx="7030500" cy="3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6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T.-Y. Lin, M. Maire, S. Belongie, J. Hays, P. Perona, D. Ramanan, P. Dollar, and C. L. Zitnick. Microsoft coco: Common objects in context. In European conference on computer vision, pages 740–755. Springer, 2014.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6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M. Cordts, M. Omran, S. Ramos, T. Rehfeld, M. Enzweiler, R. Benenson, U. Franke, S. Roth, and B. Schiele. The cityscapes dataset for semantic urban scene understanding. In Proceedings of the IEEE conference on computer vision and pattern recognition, pages 3213–3223, 2016.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6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Z. Zhang, A. G. Schwing, S. Fidler, and R. Urtasun. Monocular object instance segmentation and depth ordering with cnns. In Proceedings of the IEEE International Conference on Computer Vision, pages 2614–2622, 2015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6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Z. Zhang, S. Fidler, and R. Urtasun. Instance-level segmentation for autonomous driving with deep densely connected mrfs. In Proceedings of the IEEE Conference on Computer Vision and Pattern Recognition, pages 669–677, 2016.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 startAt="6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Romera-Paredes and P. H. S. Torr. Recurrent instance segmentation. In European conference on computer vision, pages 312–329. Springer, 2016.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8"/>
          <p:cNvSpPr txBox="1"/>
          <p:nvPr>
            <p:ph type="title"/>
          </p:nvPr>
        </p:nvSpPr>
        <p:spPr>
          <a:xfrm>
            <a:off x="1303800" y="251600"/>
            <a:ext cx="7030500" cy="5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-GB" sz="2400">
                <a:latin typeface="Arial"/>
                <a:ea typeface="Arial"/>
                <a:cs typeface="Arial"/>
                <a:sym typeface="Arial"/>
              </a:rPr>
              <a:t>References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8"/>
          <p:cNvSpPr txBox="1"/>
          <p:nvPr>
            <p:ph idx="1" type="body"/>
          </p:nvPr>
        </p:nvSpPr>
        <p:spPr>
          <a:xfrm>
            <a:off x="1303800" y="1242275"/>
            <a:ext cx="7030500" cy="36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11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L. Shen, Z. Lin, and Q. Huang. Relay backpropagation for effective learning of deep convolutional neural networks. In European conference on computer vision, pages 467–482. Springer, 2016.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11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Severstal: Steel Defect Detection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11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F. Chollet. Xception: Deep learning with depth wise separable convolutions. In </a:t>
            </a:r>
            <a:r>
              <a:rPr i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Proceedings of the IEEE conference on computer vision and pattern recognition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pages 1251–1258, 2017.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715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8"/>
              <a:buFont typeface="Arial"/>
              <a:buAutoNum type="arabicPeriod" startAt="11"/>
            </a:pPr>
            <a:r>
              <a:rPr lang="en-GB" sz="1408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Weidong Zhao, Feng Chen, Hancheng Huang, Dan Li, Wei Cheng, "A New Steel Defect Detection Algorithm Based on Deep Learning", </a:t>
            </a:r>
            <a:r>
              <a:rPr i="1" lang="en-GB" sz="1408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Computational Intelligence and Neuroscience</a:t>
            </a:r>
            <a:r>
              <a:rPr lang="en-GB" sz="1408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vol. 2021, Article ID 5592878, 13 pages, 2021.</a:t>
            </a:r>
            <a:endParaRPr sz="1408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715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8"/>
              <a:buFont typeface="Times New Roman"/>
              <a:buAutoNum type="arabicPeriod" startAt="11"/>
            </a:pPr>
            <a:r>
              <a:rPr lang="en-GB" sz="1408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Qianlai Sun (孙前来), Yin Wang (王银) and Zhiyi Sun (孙志毅)</a:t>
            </a:r>
            <a:r>
              <a:rPr lang="en-GB" sz="14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,” Rapid surface defect detection based on singular value decomposition using steel strips as an example” </a:t>
            </a:r>
            <a:r>
              <a:rPr lang="en-GB" sz="1408">
                <a:solidFill>
                  <a:srgbClr val="000000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AIP Advances</a:t>
            </a:r>
            <a:r>
              <a:rPr lang="en-GB" sz="1408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GB" sz="1408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8</a:t>
            </a:r>
            <a:r>
              <a:rPr lang="en-GB" sz="1408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055209 (2018).</a:t>
            </a:r>
            <a:endParaRPr sz="1408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60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9"/>
          <p:cNvSpPr txBox="1"/>
          <p:nvPr>
            <p:ph type="title"/>
          </p:nvPr>
        </p:nvSpPr>
        <p:spPr>
          <a:xfrm>
            <a:off x="1162125" y="228850"/>
            <a:ext cx="7030500" cy="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-GB" sz="2650">
                <a:latin typeface="Arial"/>
                <a:ea typeface="Arial"/>
                <a:cs typeface="Arial"/>
                <a:sym typeface="Arial"/>
              </a:rPr>
              <a:t>References</a:t>
            </a:r>
            <a:endParaRPr/>
          </a:p>
        </p:txBody>
      </p:sp>
      <p:sp>
        <p:nvSpPr>
          <p:cNvPr id="511" name="Google Shape;511;p29"/>
          <p:cNvSpPr txBox="1"/>
          <p:nvPr>
            <p:ph idx="1" type="body"/>
          </p:nvPr>
        </p:nvSpPr>
        <p:spPr>
          <a:xfrm>
            <a:off x="1162125" y="1242275"/>
            <a:ext cx="7030500" cy="3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715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8"/>
              <a:buFont typeface="Arial"/>
              <a:buAutoNum type="arabicPeriod" startAt="16"/>
            </a:pPr>
            <a:r>
              <a:rPr lang="en-GB" sz="1408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Kun Qian, “</a:t>
            </a:r>
            <a:r>
              <a:rPr lang="en-GB" sz="1408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Automated Detection of Steel Defects via Machine Learning based on Real-Time Semantic Segmentation</a:t>
            </a:r>
            <a:r>
              <a:rPr lang="en-GB" sz="1408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” </a:t>
            </a:r>
            <a:r>
              <a:rPr lang="en-GB" sz="1408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ICVIP 2019: Proceedings of the 3rd International Conference on Video and Image Processing, Pages 42–46, December 2019.</a:t>
            </a:r>
            <a:endParaRPr sz="1408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 startAt="16"/>
            </a:pPr>
            <a:r>
              <a:rPr lang="en-GB" sz="14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Matthew Browne, Saeed Shiry Ghidary, “</a:t>
            </a:r>
            <a:r>
              <a:rPr lang="en-GB" sz="1400">
                <a:solidFill>
                  <a:srgbClr val="11111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Convolutional Neural Networks for Image Processing: An Application in Robot Vision</a:t>
            </a:r>
            <a:r>
              <a:rPr lang="en-GB" sz="14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” Australasian Joint Conference on Artificial Intelligence</a:t>
            </a:r>
            <a:r>
              <a:rPr lang="en-GB" sz="14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AI 2003: Advances in Artificial Intelligence pp 641-652.</a:t>
            </a:r>
            <a:endParaRPr b="1" sz="1400" u="sng">
              <a:solidFill>
                <a:srgbClr val="1155CC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AutoNum type="arabicPeriod" startAt="16"/>
            </a:pPr>
            <a:r>
              <a:rPr lang="en-GB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Zhu Fan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 sz="1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Jia-Kun Xie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 sz="1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Zhong-yu Wang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 sz="1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Pei-Chen Liu, “ </a:t>
            </a:r>
            <a:r>
              <a:rPr lang="en-GB" sz="1400">
                <a:solidFill>
                  <a:srgbClr val="11111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Image Classification Method Based on Improved KNN Algorithm</a:t>
            </a:r>
            <a:r>
              <a:rPr lang="en-GB" sz="1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” </a:t>
            </a:r>
            <a:r>
              <a:rPr i="1" lang="en-GB" sz="14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J. Phys.: Conf. Ser.</a:t>
            </a:r>
            <a:r>
              <a:rPr lang="en-GB" sz="14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1930, </a:t>
            </a:r>
            <a:r>
              <a:rPr lang="en-GB" sz="1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2021 International Conference on Sensing Technology and Applications (ICSTA 2021) 23-25 April 202</a:t>
            </a:r>
            <a:endParaRPr sz="14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AutoNum type="arabicPeriod" startAt="16"/>
            </a:pPr>
            <a:r>
              <a:rPr lang="en-GB" sz="14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Baoxun Xu, Yunming Ye, Lei Nie, “</a:t>
            </a:r>
            <a:r>
              <a:rPr lang="en-GB" sz="1400">
                <a:solidFill>
                  <a:srgbClr val="11111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An improved random forest classifier for image classification</a:t>
            </a:r>
            <a:r>
              <a:rPr lang="en-GB" sz="14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” In proceeding of the </a:t>
            </a:r>
            <a:r>
              <a:rPr lang="en-GB" sz="1400">
                <a:solidFill>
                  <a:srgbClr val="333333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2012 IEEE International Conference on Information and Automation</a:t>
            </a:r>
            <a:r>
              <a:rPr lang="en-GB" sz="14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GB" sz="14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4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6-8 June 2012.</a:t>
            </a:r>
            <a:endParaRPr sz="1408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0"/>
          <p:cNvSpPr txBox="1"/>
          <p:nvPr>
            <p:ph type="title"/>
          </p:nvPr>
        </p:nvSpPr>
        <p:spPr>
          <a:xfrm>
            <a:off x="1388625" y="1344225"/>
            <a:ext cx="63669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-GB"/>
              <a:t>Thank You</a:t>
            </a:r>
            <a:endParaRPr/>
          </a:p>
        </p:txBody>
      </p:sp>
      <p:sp>
        <p:nvSpPr>
          <p:cNvPr id="518" name="Google Shape;518;p3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